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08"/>
    <p:restoredTop sz="94687"/>
  </p:normalViewPr>
  <p:slideViewPr>
    <p:cSldViewPr snapToGrid="0">
      <p:cViewPr>
        <p:scale>
          <a:sx n="63" d="100"/>
          <a:sy n="63" d="100"/>
        </p:scale>
        <p:origin x="-576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BlockTimelineDefaultColorVariant">
  <dgm:title val="Block Timeline Default Color Variant"/>
  <dgm:desc val="Block Timeline Default Color Variant"/>
  <dgm:catLst>
    <dgm:cat type="Other" pri="2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7A578D-D8F9-6F4F-A767-4A83513EA446}" type="doc">
      <dgm:prSet loTypeId="urn:microsoft.com/office/officeart/2024/3/layout/BlockTimeline" loCatId="Timeline" qsTypeId="urn:microsoft.com/office/officeart/2005/8/quickstyle/simple1" qsCatId="simple" csTypeId="urn:microsoft.com/office/officeart/2005/8/colors/BlockTimelineDefaultColorVariant" csCatId="other" phldr="1"/>
      <dgm:spPr/>
      <dgm:t>
        <a:bodyPr/>
        <a:lstStyle/>
        <a:p>
          <a:endParaRPr lang="en-GB"/>
        </a:p>
      </dgm:t>
    </dgm:pt>
    <dgm:pt modelId="{236E4471-DAE9-074C-A9AC-C92CC73245FC}">
      <dgm:prSet/>
      <dgm:spPr/>
      <dgm:t>
        <a:bodyPr/>
        <a:lstStyle/>
        <a:p>
          <a:pPr>
            <a:defRPr b="1"/>
          </a:pPr>
          <a:r>
            <a:rPr lang="en-GB"/>
            <a:t>Limited Scalability</a:t>
          </a:r>
        </a:p>
      </dgm:t>
    </dgm:pt>
    <dgm:pt modelId="{8907BD9C-EC1D-9443-9B2E-1A1F3BD2348B}" type="parTrans" cxnId="{756A290D-32EE-3D4C-8C1B-7FC9C3E573F1}">
      <dgm:prSet/>
      <dgm:spPr/>
      <dgm:t>
        <a:bodyPr/>
        <a:lstStyle/>
        <a:p>
          <a:endParaRPr lang="en-GB"/>
        </a:p>
      </dgm:t>
    </dgm:pt>
    <dgm:pt modelId="{F1DD2AE1-5014-1147-9636-C9C815ED13F5}" type="sibTrans" cxnId="{756A290D-32EE-3D4C-8C1B-7FC9C3E573F1}">
      <dgm:prSet/>
      <dgm:spPr/>
      <dgm:t>
        <a:bodyPr/>
        <a:lstStyle/>
        <a:p>
          <a:endParaRPr lang="en-GB"/>
        </a:p>
      </dgm:t>
    </dgm:pt>
    <dgm:pt modelId="{29880E0C-2CC6-434A-8AEC-EBE1427E4B93}">
      <dgm:prSet/>
      <dgm:spPr/>
      <dgm:t>
        <a:bodyPr/>
        <a:lstStyle/>
        <a:p>
          <a:r>
            <a:rPr lang="en-GB"/>
            <a:t>The physical infrastructure has a fixed capacity. Which is not suitable ofr peak periods</a:t>
          </a:r>
        </a:p>
      </dgm:t>
    </dgm:pt>
    <dgm:pt modelId="{DCAD4730-BF53-4A41-BD94-BA8C1FD8EB8D}" type="parTrans" cxnId="{3C13A1DC-8628-E64A-9CE2-D1386904018F}">
      <dgm:prSet/>
      <dgm:spPr/>
      <dgm:t>
        <a:bodyPr/>
        <a:lstStyle/>
        <a:p>
          <a:endParaRPr lang="en-GB"/>
        </a:p>
      </dgm:t>
    </dgm:pt>
    <dgm:pt modelId="{92427E10-673E-B44B-B2E5-2DBF90B66D45}" type="sibTrans" cxnId="{3C13A1DC-8628-E64A-9CE2-D1386904018F}">
      <dgm:prSet/>
      <dgm:spPr/>
      <dgm:t>
        <a:bodyPr/>
        <a:lstStyle/>
        <a:p>
          <a:endParaRPr lang="en-GB"/>
        </a:p>
      </dgm:t>
    </dgm:pt>
    <dgm:pt modelId="{B7B1EE80-15D3-5C47-BB91-D7628CC6980E}">
      <dgm:prSet/>
      <dgm:spPr/>
      <dgm:t>
        <a:bodyPr/>
        <a:lstStyle/>
        <a:p>
          <a:pPr>
            <a:defRPr b="1"/>
          </a:pPr>
          <a:r>
            <a:rPr lang="en-GB"/>
            <a:t>Resource utilisation</a:t>
          </a:r>
        </a:p>
      </dgm:t>
    </dgm:pt>
    <dgm:pt modelId="{CB5CDA5D-BE95-FD47-B583-67D62ADBF8B3}" type="parTrans" cxnId="{2D3D31D1-C3E3-CC40-B7A3-21B07C530BED}">
      <dgm:prSet/>
      <dgm:spPr/>
      <dgm:t>
        <a:bodyPr/>
        <a:lstStyle/>
        <a:p>
          <a:endParaRPr lang="en-GB"/>
        </a:p>
      </dgm:t>
    </dgm:pt>
    <dgm:pt modelId="{B2770EFC-F019-994C-886C-079D496F1E88}" type="sibTrans" cxnId="{2D3D31D1-C3E3-CC40-B7A3-21B07C530BED}">
      <dgm:prSet/>
      <dgm:spPr/>
      <dgm:t>
        <a:bodyPr/>
        <a:lstStyle/>
        <a:p>
          <a:endParaRPr lang="en-GB"/>
        </a:p>
      </dgm:t>
    </dgm:pt>
    <dgm:pt modelId="{C29286DD-6628-674B-B22B-D3978C49FB62}">
      <dgm:prSet/>
      <dgm:spPr/>
      <dgm:t>
        <a:bodyPr/>
        <a:lstStyle/>
        <a:p>
          <a:r>
            <a:rPr lang="en-GB"/>
            <a:t>When excess resources are bought to cope with peak sales season, those resources end up not being used regularly, which is a waste of money.</a:t>
          </a:r>
        </a:p>
      </dgm:t>
    </dgm:pt>
    <dgm:pt modelId="{3385E6B9-2727-404D-AAF8-81FE6DB13770}" type="parTrans" cxnId="{471B6FAB-0D0F-CA41-A6AE-59D5492C1F83}">
      <dgm:prSet/>
      <dgm:spPr/>
      <dgm:t>
        <a:bodyPr/>
        <a:lstStyle/>
        <a:p>
          <a:endParaRPr lang="en-GB"/>
        </a:p>
      </dgm:t>
    </dgm:pt>
    <dgm:pt modelId="{8CEBFF25-B01B-5543-A3D4-3D7130761BDE}" type="sibTrans" cxnId="{471B6FAB-0D0F-CA41-A6AE-59D5492C1F83}">
      <dgm:prSet/>
      <dgm:spPr/>
      <dgm:t>
        <a:bodyPr/>
        <a:lstStyle/>
        <a:p>
          <a:endParaRPr lang="en-GB"/>
        </a:p>
      </dgm:t>
    </dgm:pt>
    <dgm:pt modelId="{11EC49DB-A0AD-814C-85BC-4119F92331C6}">
      <dgm:prSet/>
      <dgm:spPr/>
      <dgm:t>
        <a:bodyPr/>
        <a:lstStyle/>
        <a:p>
          <a:pPr>
            <a:defRPr b="1"/>
          </a:pPr>
          <a:r>
            <a:rPr lang="en-GB"/>
            <a:t>Hardware maintenance requirements</a:t>
          </a:r>
        </a:p>
      </dgm:t>
    </dgm:pt>
    <dgm:pt modelId="{A43693D7-ABD0-EB4E-B0B2-1D6F7A5F2D62}" type="parTrans" cxnId="{2BB4BC49-A123-414B-92FC-0B919034BE79}">
      <dgm:prSet/>
      <dgm:spPr/>
      <dgm:t>
        <a:bodyPr/>
        <a:lstStyle/>
        <a:p>
          <a:endParaRPr lang="en-GB"/>
        </a:p>
      </dgm:t>
    </dgm:pt>
    <dgm:pt modelId="{AE2CF597-6220-C242-8EAE-037413B9227A}" type="sibTrans" cxnId="{2BB4BC49-A123-414B-92FC-0B919034BE79}">
      <dgm:prSet/>
      <dgm:spPr/>
      <dgm:t>
        <a:bodyPr/>
        <a:lstStyle/>
        <a:p>
          <a:endParaRPr lang="en-GB"/>
        </a:p>
      </dgm:t>
    </dgm:pt>
    <dgm:pt modelId="{A548A485-096B-F34F-993D-8BA50D142CD6}">
      <dgm:prSet/>
      <dgm:spPr/>
      <dgm:t>
        <a:bodyPr/>
        <a:lstStyle/>
        <a:p>
          <a:r>
            <a:rPr lang="en-GB"/>
            <a:t>IT Team needs to constantly replace and manage the physical hardware and servers, which requires lots of time and money</a:t>
          </a:r>
        </a:p>
      </dgm:t>
    </dgm:pt>
    <dgm:pt modelId="{5F38689B-A6F4-7441-91F8-D53F13A6161B}" type="parTrans" cxnId="{AF1C6DB5-A92D-C843-BB97-E0967CCF2AD0}">
      <dgm:prSet/>
      <dgm:spPr/>
      <dgm:t>
        <a:bodyPr/>
        <a:lstStyle/>
        <a:p>
          <a:endParaRPr lang="en-GB"/>
        </a:p>
      </dgm:t>
    </dgm:pt>
    <dgm:pt modelId="{7D359171-5690-D64D-87F4-A66C0D4D4143}" type="sibTrans" cxnId="{AF1C6DB5-A92D-C843-BB97-E0967CCF2AD0}">
      <dgm:prSet/>
      <dgm:spPr/>
      <dgm:t>
        <a:bodyPr/>
        <a:lstStyle/>
        <a:p>
          <a:endParaRPr lang="en-GB"/>
        </a:p>
      </dgm:t>
    </dgm:pt>
    <dgm:pt modelId="{B2DDDD2A-6B7F-7940-B794-EB82F83E50BA}">
      <dgm:prSet/>
      <dgm:spPr/>
      <dgm:t>
        <a:bodyPr/>
        <a:lstStyle/>
        <a:p>
          <a:pPr>
            <a:defRPr b="1"/>
          </a:pPr>
          <a:r>
            <a:rPr lang="en-GB"/>
            <a:t>Disaster recovery problems</a:t>
          </a:r>
        </a:p>
      </dgm:t>
    </dgm:pt>
    <dgm:pt modelId="{4250E383-554B-A743-8DDC-3C17DF501DCC}" type="parTrans" cxnId="{8DFCEE6E-C957-7E44-8663-688EE54C05A9}">
      <dgm:prSet/>
      <dgm:spPr/>
      <dgm:t>
        <a:bodyPr/>
        <a:lstStyle/>
        <a:p>
          <a:endParaRPr lang="en-GB"/>
        </a:p>
      </dgm:t>
    </dgm:pt>
    <dgm:pt modelId="{01206DA4-9B54-2F43-98C8-0A9A01CE127C}" type="sibTrans" cxnId="{8DFCEE6E-C957-7E44-8663-688EE54C05A9}">
      <dgm:prSet/>
      <dgm:spPr/>
      <dgm:t>
        <a:bodyPr/>
        <a:lstStyle/>
        <a:p>
          <a:endParaRPr lang="en-GB"/>
        </a:p>
      </dgm:t>
    </dgm:pt>
    <dgm:pt modelId="{41FA40A0-AC1A-2246-9386-A8BF1B416A71}">
      <dgm:prSet/>
      <dgm:spPr/>
      <dgm:t>
        <a:bodyPr/>
        <a:lstStyle/>
        <a:p>
          <a:r>
            <a:rPr lang="en-GB"/>
            <a:t>Reliance on physical infrastructure creates additional requirements around backup, hardware failure and disaster recovery .</a:t>
          </a:r>
        </a:p>
      </dgm:t>
    </dgm:pt>
    <dgm:pt modelId="{E33E0ADF-9713-1246-9C2B-694EFB7103B1}" type="parTrans" cxnId="{D7682D4D-AF39-6148-971C-CF9A9B7CEB5D}">
      <dgm:prSet/>
      <dgm:spPr/>
      <dgm:t>
        <a:bodyPr/>
        <a:lstStyle/>
        <a:p>
          <a:endParaRPr lang="en-GB"/>
        </a:p>
      </dgm:t>
    </dgm:pt>
    <dgm:pt modelId="{0B179FC5-133C-914A-95A8-1F4446ACF9FC}" type="sibTrans" cxnId="{D7682D4D-AF39-6148-971C-CF9A9B7CEB5D}">
      <dgm:prSet/>
      <dgm:spPr/>
      <dgm:t>
        <a:bodyPr/>
        <a:lstStyle/>
        <a:p>
          <a:endParaRPr lang="en-GB"/>
        </a:p>
      </dgm:t>
    </dgm:pt>
    <dgm:pt modelId="{07AB02D3-F2F7-B54A-9A1D-7BB7A3E65B2B}" type="pres">
      <dgm:prSet presAssocID="{C67A578D-D8F9-6F4F-A767-4A83513EA446}" presName="Name0" presStyleCnt="0">
        <dgm:presLayoutVars>
          <dgm:chMax/>
          <dgm:chPref/>
          <dgm:animLvl val="lvl"/>
        </dgm:presLayoutVars>
      </dgm:prSet>
      <dgm:spPr/>
    </dgm:pt>
    <dgm:pt modelId="{8D838C49-FCB2-694D-9B48-0CF2C8792CAA}" type="pres">
      <dgm:prSet presAssocID="{236E4471-DAE9-074C-A9AC-C92CC73245FC}" presName="composite" presStyleCnt="0"/>
      <dgm:spPr/>
    </dgm:pt>
    <dgm:pt modelId="{4BD50002-DC82-1343-9391-9C5AFEB04EC7}" type="pres">
      <dgm:prSet presAssocID="{236E4471-DAE9-074C-A9AC-C92CC73245FC}" presName="Parent1" presStyleLbl="alignNode1" presStyleIdx="0" presStyleCnt="4">
        <dgm:presLayoutVars>
          <dgm:chMax val="1"/>
          <dgm:chPref val="1"/>
          <dgm:bulletEnabled val="1"/>
        </dgm:presLayoutVars>
      </dgm:prSet>
      <dgm:spPr/>
    </dgm:pt>
    <dgm:pt modelId="{62BA897C-A25A-E942-BEA7-8A98FDCF0CFF}" type="pres">
      <dgm:prSet presAssocID="{236E4471-DAE9-074C-A9AC-C92CC73245FC}" presName="Childtext1" presStyleLbl="revTx" presStyleIdx="0" presStyleCnt="4">
        <dgm:presLayoutVars>
          <dgm:chMax val="0"/>
          <dgm:chPref val="0"/>
          <dgm:bulletEnabled/>
        </dgm:presLayoutVars>
      </dgm:prSet>
      <dgm:spPr/>
    </dgm:pt>
    <dgm:pt modelId="{E54B883F-5828-CD44-BB13-7F5410B7F2E3}" type="pres">
      <dgm:prSet presAssocID="{236E4471-DAE9-074C-A9AC-C92CC73245FC}" presName="ConnectLine" presStyleLbl="sibTrans1D1" presStyleIdx="0" presStyleCnt="4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73FE2DDF-2AAA-314C-89C8-EF538A46AB6A}" type="pres">
      <dgm:prSet presAssocID="{236E4471-DAE9-074C-A9AC-C92CC73245FC}" presName="EmptyPane" presStyleCnt="0"/>
      <dgm:spPr/>
    </dgm:pt>
    <dgm:pt modelId="{C3A0DF33-4F16-3D4B-BB5C-A6BDD16EA216}" type="pres">
      <dgm:prSet presAssocID="{F1DD2AE1-5014-1147-9636-C9C815ED13F5}" presName="spaceBetweenRectangles" presStyleLbl="fgAcc1" presStyleIdx="0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C1B54DA-41DE-A34B-9D77-59B2EC5F3343}" type="pres">
      <dgm:prSet presAssocID="{B7B1EE80-15D3-5C47-BB91-D7628CC6980E}" presName="composite" presStyleCnt="0"/>
      <dgm:spPr/>
    </dgm:pt>
    <dgm:pt modelId="{84BDEEC8-1372-A249-B0EB-E2CB1240EE49}" type="pres">
      <dgm:prSet presAssocID="{B7B1EE80-15D3-5C47-BB91-D7628CC6980E}" presName="Parent1" presStyleLbl="alignNode1" presStyleIdx="1" presStyleCnt="4">
        <dgm:presLayoutVars>
          <dgm:chMax val="1"/>
          <dgm:chPref val="1"/>
          <dgm:bulletEnabled val="1"/>
        </dgm:presLayoutVars>
      </dgm:prSet>
      <dgm:spPr/>
    </dgm:pt>
    <dgm:pt modelId="{FBD92928-EF96-3249-8E14-D5A1E0A28273}" type="pres">
      <dgm:prSet presAssocID="{B7B1EE80-15D3-5C47-BB91-D7628CC6980E}" presName="Childtext1" presStyleLbl="revTx" presStyleIdx="1" presStyleCnt="4">
        <dgm:presLayoutVars>
          <dgm:chMax val="0"/>
          <dgm:chPref val="0"/>
          <dgm:bulletEnabled/>
        </dgm:presLayoutVars>
      </dgm:prSet>
      <dgm:spPr/>
    </dgm:pt>
    <dgm:pt modelId="{A2017724-0B57-8048-A913-0075E4BE9431}" type="pres">
      <dgm:prSet presAssocID="{B7B1EE80-15D3-5C47-BB91-D7628CC6980E}" presName="ConnectLine" presStyleLbl="sibTrans1D1" presStyleIdx="1" presStyleCnt="4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2AF84EE-30E0-7C4D-AAF8-E1527143E9D9}" type="pres">
      <dgm:prSet presAssocID="{B7B1EE80-15D3-5C47-BB91-D7628CC6980E}" presName="EmptyPane" presStyleCnt="0"/>
      <dgm:spPr/>
    </dgm:pt>
    <dgm:pt modelId="{90ED856D-CBA0-8B4E-9CB6-80305DF9A1BA}" type="pres">
      <dgm:prSet presAssocID="{B2770EFC-F019-994C-886C-079D496F1E88}" presName="spaceBetweenRectangles" presStyleLbl="fgAcc1" presStyleIdx="1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DE8C1F9-5D96-0F49-A8B8-6DDE68510BF6}" type="pres">
      <dgm:prSet presAssocID="{11EC49DB-A0AD-814C-85BC-4119F92331C6}" presName="composite" presStyleCnt="0"/>
      <dgm:spPr/>
    </dgm:pt>
    <dgm:pt modelId="{A23D52F4-D1A9-DB45-801D-B181409D2307}" type="pres">
      <dgm:prSet presAssocID="{11EC49DB-A0AD-814C-85BC-4119F92331C6}" presName="Parent1" presStyleLbl="alignNode1" presStyleIdx="2" presStyleCnt="4">
        <dgm:presLayoutVars>
          <dgm:chMax val="1"/>
          <dgm:chPref val="1"/>
          <dgm:bulletEnabled val="1"/>
        </dgm:presLayoutVars>
      </dgm:prSet>
      <dgm:spPr/>
    </dgm:pt>
    <dgm:pt modelId="{BAD63771-57F9-044B-A383-0EE2001BC59C}" type="pres">
      <dgm:prSet presAssocID="{11EC49DB-A0AD-814C-85BC-4119F92331C6}" presName="Childtext1" presStyleLbl="revTx" presStyleIdx="2" presStyleCnt="4">
        <dgm:presLayoutVars>
          <dgm:chMax val="0"/>
          <dgm:chPref val="0"/>
          <dgm:bulletEnabled/>
        </dgm:presLayoutVars>
      </dgm:prSet>
      <dgm:spPr/>
    </dgm:pt>
    <dgm:pt modelId="{08A19C97-D6FF-2F47-854F-EA4E8695C15D}" type="pres">
      <dgm:prSet presAssocID="{11EC49DB-A0AD-814C-85BC-4119F92331C6}" presName="ConnectLine" presStyleLbl="sibTrans1D1" presStyleIdx="2" presStyleCnt="4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9DE92CAF-4790-9B44-A132-DAB363E2AE6A}" type="pres">
      <dgm:prSet presAssocID="{11EC49DB-A0AD-814C-85BC-4119F92331C6}" presName="EmptyPane" presStyleCnt="0"/>
      <dgm:spPr/>
    </dgm:pt>
    <dgm:pt modelId="{AA970ABE-05A8-7147-98CD-F6E5DE46DBB1}" type="pres">
      <dgm:prSet presAssocID="{AE2CF597-6220-C242-8EAE-037413B9227A}" presName="spaceBetweenRectangles" presStyleLbl="fgAcc1" presStyleIdx="2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0068CEC-DDE4-5A45-8282-9E20301F9FDA}" type="pres">
      <dgm:prSet presAssocID="{B2DDDD2A-6B7F-7940-B794-EB82F83E50BA}" presName="composite" presStyleCnt="0"/>
      <dgm:spPr/>
    </dgm:pt>
    <dgm:pt modelId="{3B241EF6-F8D1-A144-B4B1-0EB4EAFBC9EF}" type="pres">
      <dgm:prSet presAssocID="{B2DDDD2A-6B7F-7940-B794-EB82F83E50BA}" presName="Parent1" presStyleLbl="alignNode1" presStyleIdx="3" presStyleCnt="4">
        <dgm:presLayoutVars>
          <dgm:chMax val="1"/>
          <dgm:chPref val="1"/>
          <dgm:bulletEnabled val="1"/>
        </dgm:presLayoutVars>
      </dgm:prSet>
      <dgm:spPr/>
    </dgm:pt>
    <dgm:pt modelId="{02DC0BB4-6832-244A-BDAA-A0427A542862}" type="pres">
      <dgm:prSet presAssocID="{B2DDDD2A-6B7F-7940-B794-EB82F83E50BA}" presName="Childtext1" presStyleLbl="revTx" presStyleIdx="3" presStyleCnt="4">
        <dgm:presLayoutVars>
          <dgm:chMax val="0"/>
          <dgm:chPref val="0"/>
          <dgm:bulletEnabled/>
        </dgm:presLayoutVars>
      </dgm:prSet>
      <dgm:spPr/>
    </dgm:pt>
    <dgm:pt modelId="{04812756-C0E0-9244-8111-AA91C165F0CB}" type="pres">
      <dgm:prSet presAssocID="{B2DDDD2A-6B7F-7940-B794-EB82F83E50BA}" presName="ConnectLine" presStyleLbl="sibTrans1D1" presStyleIdx="3" presStyleCnt="4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31FB42C2-1658-A24B-9308-E85DDE7FB739}" type="pres">
      <dgm:prSet presAssocID="{B2DDDD2A-6B7F-7940-B794-EB82F83E50BA}" presName="EmptyPane" presStyleCnt="0"/>
      <dgm:spPr/>
    </dgm:pt>
  </dgm:ptLst>
  <dgm:cxnLst>
    <dgm:cxn modelId="{17C1D207-E063-5047-BE7C-7F3C300C057D}" type="presOf" srcId="{29880E0C-2CC6-434A-8AEC-EBE1427E4B93}" destId="{62BA897C-A25A-E942-BEA7-8A98FDCF0CFF}" srcOrd="0" destOrd="0" presId="urn:microsoft.com/office/officeart/2024/3/layout/BlockTimeline"/>
    <dgm:cxn modelId="{756A290D-32EE-3D4C-8C1B-7FC9C3E573F1}" srcId="{C67A578D-D8F9-6F4F-A767-4A83513EA446}" destId="{236E4471-DAE9-074C-A9AC-C92CC73245FC}" srcOrd="0" destOrd="0" parTransId="{8907BD9C-EC1D-9443-9B2E-1A1F3BD2348B}" sibTransId="{F1DD2AE1-5014-1147-9636-C9C815ED13F5}"/>
    <dgm:cxn modelId="{FFBA840E-D10F-394C-8F3D-55F7FB0E08DD}" type="presOf" srcId="{B7B1EE80-15D3-5C47-BB91-D7628CC6980E}" destId="{84BDEEC8-1372-A249-B0EB-E2CB1240EE49}" srcOrd="0" destOrd="0" presId="urn:microsoft.com/office/officeart/2024/3/layout/BlockTimeline"/>
    <dgm:cxn modelId="{62743147-4545-094D-8DE3-CC9FBDBED673}" type="presOf" srcId="{236E4471-DAE9-074C-A9AC-C92CC73245FC}" destId="{4BD50002-DC82-1343-9391-9C5AFEB04EC7}" srcOrd="0" destOrd="0" presId="urn:microsoft.com/office/officeart/2024/3/layout/BlockTimeline"/>
    <dgm:cxn modelId="{2BB4BC49-A123-414B-92FC-0B919034BE79}" srcId="{C67A578D-D8F9-6F4F-A767-4A83513EA446}" destId="{11EC49DB-A0AD-814C-85BC-4119F92331C6}" srcOrd="2" destOrd="0" parTransId="{A43693D7-ABD0-EB4E-B0B2-1D6F7A5F2D62}" sibTransId="{AE2CF597-6220-C242-8EAE-037413B9227A}"/>
    <dgm:cxn modelId="{D7682D4D-AF39-6148-971C-CF9A9B7CEB5D}" srcId="{B2DDDD2A-6B7F-7940-B794-EB82F83E50BA}" destId="{41FA40A0-AC1A-2246-9386-A8BF1B416A71}" srcOrd="0" destOrd="0" parTransId="{E33E0ADF-9713-1246-9C2B-694EFB7103B1}" sibTransId="{0B179FC5-133C-914A-95A8-1F4446ACF9FC}"/>
    <dgm:cxn modelId="{13396861-0E91-A54B-AED5-13D4A83D8E5B}" type="presOf" srcId="{B2DDDD2A-6B7F-7940-B794-EB82F83E50BA}" destId="{3B241EF6-F8D1-A144-B4B1-0EB4EAFBC9EF}" srcOrd="0" destOrd="0" presId="urn:microsoft.com/office/officeart/2024/3/layout/BlockTimeline"/>
    <dgm:cxn modelId="{42117F6B-6BBF-3043-BD3D-C51E4F34B09E}" type="presOf" srcId="{A548A485-096B-F34F-993D-8BA50D142CD6}" destId="{BAD63771-57F9-044B-A383-0EE2001BC59C}" srcOrd="0" destOrd="0" presId="urn:microsoft.com/office/officeart/2024/3/layout/BlockTimeline"/>
    <dgm:cxn modelId="{8DFCEE6E-C957-7E44-8663-688EE54C05A9}" srcId="{C67A578D-D8F9-6F4F-A767-4A83513EA446}" destId="{B2DDDD2A-6B7F-7940-B794-EB82F83E50BA}" srcOrd="3" destOrd="0" parTransId="{4250E383-554B-A743-8DDC-3C17DF501DCC}" sibTransId="{01206DA4-9B54-2F43-98C8-0A9A01CE127C}"/>
    <dgm:cxn modelId="{15F6C277-568C-F944-B76F-874891B23AF4}" type="presOf" srcId="{C67A578D-D8F9-6F4F-A767-4A83513EA446}" destId="{07AB02D3-F2F7-B54A-9A1D-7BB7A3E65B2B}" srcOrd="0" destOrd="0" presId="urn:microsoft.com/office/officeart/2024/3/layout/BlockTimeline"/>
    <dgm:cxn modelId="{471B6FAB-0D0F-CA41-A6AE-59D5492C1F83}" srcId="{B7B1EE80-15D3-5C47-BB91-D7628CC6980E}" destId="{C29286DD-6628-674B-B22B-D3978C49FB62}" srcOrd="0" destOrd="0" parTransId="{3385E6B9-2727-404D-AAF8-81FE6DB13770}" sibTransId="{8CEBFF25-B01B-5543-A3D4-3D7130761BDE}"/>
    <dgm:cxn modelId="{AF1C6DB5-A92D-C843-BB97-E0967CCF2AD0}" srcId="{11EC49DB-A0AD-814C-85BC-4119F92331C6}" destId="{A548A485-096B-F34F-993D-8BA50D142CD6}" srcOrd="0" destOrd="0" parTransId="{5F38689B-A6F4-7441-91F8-D53F13A6161B}" sibTransId="{7D359171-5690-D64D-87F4-A66C0D4D4143}"/>
    <dgm:cxn modelId="{2D3D31D1-C3E3-CC40-B7A3-21B07C530BED}" srcId="{C67A578D-D8F9-6F4F-A767-4A83513EA446}" destId="{B7B1EE80-15D3-5C47-BB91-D7628CC6980E}" srcOrd="1" destOrd="0" parTransId="{CB5CDA5D-BE95-FD47-B583-67D62ADBF8B3}" sibTransId="{B2770EFC-F019-994C-886C-079D496F1E88}"/>
    <dgm:cxn modelId="{3C13A1DC-8628-E64A-9CE2-D1386904018F}" srcId="{236E4471-DAE9-074C-A9AC-C92CC73245FC}" destId="{29880E0C-2CC6-434A-8AEC-EBE1427E4B93}" srcOrd="0" destOrd="0" parTransId="{DCAD4730-BF53-4A41-BD94-BA8C1FD8EB8D}" sibTransId="{92427E10-673E-B44B-B2E5-2DBF90B66D45}"/>
    <dgm:cxn modelId="{BD49CBFA-ACAD-EE47-925E-AB27C3F26F90}" type="presOf" srcId="{41FA40A0-AC1A-2246-9386-A8BF1B416A71}" destId="{02DC0BB4-6832-244A-BDAA-A0427A542862}" srcOrd="0" destOrd="0" presId="urn:microsoft.com/office/officeart/2024/3/layout/BlockTimeline"/>
    <dgm:cxn modelId="{55012CFC-E749-D54A-B7E7-8875B19D55B6}" type="presOf" srcId="{C29286DD-6628-674B-B22B-D3978C49FB62}" destId="{FBD92928-EF96-3249-8E14-D5A1E0A28273}" srcOrd="0" destOrd="0" presId="urn:microsoft.com/office/officeart/2024/3/layout/BlockTimeline"/>
    <dgm:cxn modelId="{65A315FE-E93B-DE42-B8E6-0614DECE5C57}" type="presOf" srcId="{11EC49DB-A0AD-814C-85BC-4119F92331C6}" destId="{A23D52F4-D1A9-DB45-801D-B181409D2307}" srcOrd="0" destOrd="0" presId="urn:microsoft.com/office/officeart/2024/3/layout/BlockTimeline"/>
    <dgm:cxn modelId="{975331F2-193E-304A-ABA3-7C4EC4CAEE54}" type="presParOf" srcId="{07AB02D3-F2F7-B54A-9A1D-7BB7A3E65B2B}" destId="{8D838C49-FCB2-694D-9B48-0CF2C8792CAA}" srcOrd="0" destOrd="0" presId="urn:microsoft.com/office/officeart/2024/3/layout/BlockTimeline"/>
    <dgm:cxn modelId="{9C8C0297-A35E-6545-92D4-8F4768FFC42A}" type="presParOf" srcId="{8D838C49-FCB2-694D-9B48-0CF2C8792CAA}" destId="{4BD50002-DC82-1343-9391-9C5AFEB04EC7}" srcOrd="0" destOrd="0" presId="urn:microsoft.com/office/officeart/2024/3/layout/BlockTimeline"/>
    <dgm:cxn modelId="{BBC8271D-D720-A444-930C-E52A627B93DF}" type="presParOf" srcId="{8D838C49-FCB2-694D-9B48-0CF2C8792CAA}" destId="{62BA897C-A25A-E942-BEA7-8A98FDCF0CFF}" srcOrd="1" destOrd="0" presId="urn:microsoft.com/office/officeart/2024/3/layout/BlockTimeline"/>
    <dgm:cxn modelId="{4EC45BEE-B533-C843-9E9C-F7B81D074655}" type="presParOf" srcId="{8D838C49-FCB2-694D-9B48-0CF2C8792CAA}" destId="{E54B883F-5828-CD44-BB13-7F5410B7F2E3}" srcOrd="2" destOrd="0" presId="urn:microsoft.com/office/officeart/2024/3/layout/BlockTimeline"/>
    <dgm:cxn modelId="{5581A803-B8B1-6E43-A1A9-F439C46EEF98}" type="presParOf" srcId="{8D838C49-FCB2-694D-9B48-0CF2C8792CAA}" destId="{73FE2DDF-2AAA-314C-89C8-EF538A46AB6A}" srcOrd="3" destOrd="0" presId="urn:microsoft.com/office/officeart/2024/3/layout/BlockTimeline"/>
    <dgm:cxn modelId="{88DDF298-3E1F-F84D-BBE2-ED135C96CC0A}" type="presParOf" srcId="{07AB02D3-F2F7-B54A-9A1D-7BB7A3E65B2B}" destId="{C3A0DF33-4F16-3D4B-BB5C-A6BDD16EA216}" srcOrd="1" destOrd="0" presId="urn:microsoft.com/office/officeart/2024/3/layout/BlockTimeline"/>
    <dgm:cxn modelId="{7599190E-5646-9B4E-9B4A-EA1FF9B219DF}" type="presParOf" srcId="{07AB02D3-F2F7-B54A-9A1D-7BB7A3E65B2B}" destId="{4C1B54DA-41DE-A34B-9D77-59B2EC5F3343}" srcOrd="2" destOrd="0" presId="urn:microsoft.com/office/officeart/2024/3/layout/BlockTimeline"/>
    <dgm:cxn modelId="{3BCD2ECA-5649-0C43-B36A-64D7EFFEB5EF}" type="presParOf" srcId="{4C1B54DA-41DE-A34B-9D77-59B2EC5F3343}" destId="{84BDEEC8-1372-A249-B0EB-E2CB1240EE49}" srcOrd="0" destOrd="0" presId="urn:microsoft.com/office/officeart/2024/3/layout/BlockTimeline"/>
    <dgm:cxn modelId="{C70EDF5F-FAAD-AE47-BDAA-0145C3804971}" type="presParOf" srcId="{4C1B54DA-41DE-A34B-9D77-59B2EC5F3343}" destId="{FBD92928-EF96-3249-8E14-D5A1E0A28273}" srcOrd="1" destOrd="0" presId="urn:microsoft.com/office/officeart/2024/3/layout/BlockTimeline"/>
    <dgm:cxn modelId="{169838FE-E860-BF4E-9AFC-E81436999F94}" type="presParOf" srcId="{4C1B54DA-41DE-A34B-9D77-59B2EC5F3343}" destId="{A2017724-0B57-8048-A913-0075E4BE9431}" srcOrd="2" destOrd="0" presId="urn:microsoft.com/office/officeart/2024/3/layout/BlockTimeline"/>
    <dgm:cxn modelId="{F0F6474E-143D-B34D-AD51-7B93718E9D4B}" type="presParOf" srcId="{4C1B54DA-41DE-A34B-9D77-59B2EC5F3343}" destId="{52AF84EE-30E0-7C4D-AAF8-E1527143E9D9}" srcOrd="3" destOrd="0" presId="urn:microsoft.com/office/officeart/2024/3/layout/BlockTimeline"/>
    <dgm:cxn modelId="{FA268179-D038-214A-A83F-47A146A4C8EB}" type="presParOf" srcId="{07AB02D3-F2F7-B54A-9A1D-7BB7A3E65B2B}" destId="{90ED856D-CBA0-8B4E-9CB6-80305DF9A1BA}" srcOrd="3" destOrd="0" presId="urn:microsoft.com/office/officeart/2024/3/layout/BlockTimeline"/>
    <dgm:cxn modelId="{65ECD799-92C1-694C-B546-90A4E12F4F18}" type="presParOf" srcId="{07AB02D3-F2F7-B54A-9A1D-7BB7A3E65B2B}" destId="{4DE8C1F9-5D96-0F49-A8B8-6DDE68510BF6}" srcOrd="4" destOrd="0" presId="urn:microsoft.com/office/officeart/2024/3/layout/BlockTimeline"/>
    <dgm:cxn modelId="{45165034-B380-354A-85CE-7EE99F4A8E55}" type="presParOf" srcId="{4DE8C1F9-5D96-0F49-A8B8-6DDE68510BF6}" destId="{A23D52F4-D1A9-DB45-801D-B181409D2307}" srcOrd="0" destOrd="0" presId="urn:microsoft.com/office/officeart/2024/3/layout/BlockTimeline"/>
    <dgm:cxn modelId="{E521420F-494B-3A46-A831-10AE0CB60B3C}" type="presParOf" srcId="{4DE8C1F9-5D96-0F49-A8B8-6DDE68510BF6}" destId="{BAD63771-57F9-044B-A383-0EE2001BC59C}" srcOrd="1" destOrd="0" presId="urn:microsoft.com/office/officeart/2024/3/layout/BlockTimeline"/>
    <dgm:cxn modelId="{C614C3C4-F900-9D4C-A909-9F60BCD00AA2}" type="presParOf" srcId="{4DE8C1F9-5D96-0F49-A8B8-6DDE68510BF6}" destId="{08A19C97-D6FF-2F47-854F-EA4E8695C15D}" srcOrd="2" destOrd="0" presId="urn:microsoft.com/office/officeart/2024/3/layout/BlockTimeline"/>
    <dgm:cxn modelId="{E17A16AA-702E-374C-A16A-F7186ACF7F1C}" type="presParOf" srcId="{4DE8C1F9-5D96-0F49-A8B8-6DDE68510BF6}" destId="{9DE92CAF-4790-9B44-A132-DAB363E2AE6A}" srcOrd="3" destOrd="0" presId="urn:microsoft.com/office/officeart/2024/3/layout/BlockTimeline"/>
    <dgm:cxn modelId="{B8C083E2-7033-9D4F-83BC-99FF492D70A0}" type="presParOf" srcId="{07AB02D3-F2F7-B54A-9A1D-7BB7A3E65B2B}" destId="{AA970ABE-05A8-7147-98CD-F6E5DE46DBB1}" srcOrd="5" destOrd="0" presId="urn:microsoft.com/office/officeart/2024/3/layout/BlockTimeline"/>
    <dgm:cxn modelId="{A1E002BC-F4EE-7A4E-80C8-14F166B5BD36}" type="presParOf" srcId="{07AB02D3-F2F7-B54A-9A1D-7BB7A3E65B2B}" destId="{C0068CEC-DDE4-5A45-8282-9E20301F9FDA}" srcOrd="6" destOrd="0" presId="urn:microsoft.com/office/officeart/2024/3/layout/BlockTimeline"/>
    <dgm:cxn modelId="{5C67ACF3-E98F-E648-923F-C7C8D05D3BA5}" type="presParOf" srcId="{C0068CEC-DDE4-5A45-8282-9E20301F9FDA}" destId="{3B241EF6-F8D1-A144-B4B1-0EB4EAFBC9EF}" srcOrd="0" destOrd="0" presId="urn:microsoft.com/office/officeart/2024/3/layout/BlockTimeline"/>
    <dgm:cxn modelId="{42619BF9-1EBC-F648-ABF4-5DAECFA5F60D}" type="presParOf" srcId="{C0068CEC-DDE4-5A45-8282-9E20301F9FDA}" destId="{02DC0BB4-6832-244A-BDAA-A0427A542862}" srcOrd="1" destOrd="0" presId="urn:microsoft.com/office/officeart/2024/3/layout/BlockTimeline"/>
    <dgm:cxn modelId="{CD97D329-8A82-F546-BE39-3A8947733D3D}" type="presParOf" srcId="{C0068CEC-DDE4-5A45-8282-9E20301F9FDA}" destId="{04812756-C0E0-9244-8111-AA91C165F0CB}" srcOrd="2" destOrd="0" presId="urn:microsoft.com/office/officeart/2024/3/layout/BlockTimeline"/>
    <dgm:cxn modelId="{A6031BEE-AA31-3942-90BE-C03BAC6A3DFA}" type="presParOf" srcId="{C0068CEC-DDE4-5A45-8282-9E20301F9FDA}" destId="{31FB42C2-1658-A24B-9308-E85DDE7FB739}" srcOrd="3" destOrd="0" presId="urn:microsoft.com/office/officeart/2024/3/layout/Block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D50002-DC82-1343-9391-9C5AFEB04EC7}">
      <dsp:nvSpPr>
        <dsp:cNvPr id="0" name=""/>
        <dsp:cNvSpPr/>
      </dsp:nvSpPr>
      <dsp:spPr>
        <a:xfrm>
          <a:off x="377327" y="2166999"/>
          <a:ext cx="1940539" cy="59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200" kern="1200"/>
            <a:t>Limited Scalability</a:t>
          </a:r>
        </a:p>
      </dsp:txBody>
      <dsp:txXfrm>
        <a:off x="406177" y="2195849"/>
        <a:ext cx="1882839" cy="533300"/>
      </dsp:txXfrm>
    </dsp:sp>
    <dsp:sp modelId="{62BA897C-A25A-E942-BEA7-8A98FDCF0CFF}">
      <dsp:nvSpPr>
        <dsp:cNvPr id="0" name=""/>
        <dsp:cNvSpPr/>
      </dsp:nvSpPr>
      <dsp:spPr>
        <a:xfrm>
          <a:off x="0" y="0"/>
          <a:ext cx="2695193" cy="15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1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The physical infrastructure has a fixed capacity. Which is not suitable ofr peak periods</a:t>
          </a:r>
        </a:p>
      </dsp:txBody>
      <dsp:txXfrm>
        <a:off x="0" y="0"/>
        <a:ext cx="2695193" cy="1576000"/>
      </dsp:txXfrm>
    </dsp:sp>
    <dsp:sp modelId="{C3A0DF33-4F16-3D4B-BB5C-A6BDD16EA216}">
      <dsp:nvSpPr>
        <dsp:cNvPr id="0" name=""/>
        <dsp:cNvSpPr/>
      </dsp:nvSpPr>
      <dsp:spPr>
        <a:xfrm>
          <a:off x="2317866" y="2462499"/>
          <a:ext cx="75465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54654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4B883F-5828-CD44-BB13-7F5410B7F2E3}">
      <dsp:nvSpPr>
        <dsp:cNvPr id="0" name=""/>
        <dsp:cNvSpPr/>
      </dsp:nvSpPr>
      <dsp:spPr>
        <a:xfrm>
          <a:off x="1347597" y="1674499"/>
          <a:ext cx="0" cy="49250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BDEEC8-1372-A249-B0EB-E2CB1240EE49}">
      <dsp:nvSpPr>
        <dsp:cNvPr id="0" name=""/>
        <dsp:cNvSpPr/>
      </dsp:nvSpPr>
      <dsp:spPr>
        <a:xfrm>
          <a:off x="3072521" y="2166999"/>
          <a:ext cx="1940539" cy="59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200" kern="1200"/>
            <a:t>Resource utilisation</a:t>
          </a:r>
        </a:p>
      </dsp:txBody>
      <dsp:txXfrm>
        <a:off x="3101371" y="2195849"/>
        <a:ext cx="1882839" cy="533300"/>
      </dsp:txXfrm>
    </dsp:sp>
    <dsp:sp modelId="{FBD92928-EF96-3249-8E14-D5A1E0A28273}">
      <dsp:nvSpPr>
        <dsp:cNvPr id="0" name=""/>
        <dsp:cNvSpPr/>
      </dsp:nvSpPr>
      <dsp:spPr>
        <a:xfrm>
          <a:off x="2695194" y="3348999"/>
          <a:ext cx="2695193" cy="15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1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When excess resources are bought to cope with peak sales season, those resources end up not being used regularly, which is a waste of money.</a:t>
          </a:r>
        </a:p>
      </dsp:txBody>
      <dsp:txXfrm>
        <a:off x="2695194" y="3348999"/>
        <a:ext cx="2695193" cy="1576000"/>
      </dsp:txXfrm>
    </dsp:sp>
    <dsp:sp modelId="{90ED856D-CBA0-8B4E-9CB6-80305DF9A1BA}">
      <dsp:nvSpPr>
        <dsp:cNvPr id="0" name=""/>
        <dsp:cNvSpPr/>
      </dsp:nvSpPr>
      <dsp:spPr>
        <a:xfrm>
          <a:off x="5013060" y="2462499"/>
          <a:ext cx="75465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54654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017724-0B57-8048-A913-0075E4BE9431}">
      <dsp:nvSpPr>
        <dsp:cNvPr id="0" name=""/>
        <dsp:cNvSpPr/>
      </dsp:nvSpPr>
      <dsp:spPr>
        <a:xfrm>
          <a:off x="4042791" y="2757999"/>
          <a:ext cx="0" cy="49250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3D52F4-D1A9-DB45-801D-B181409D2307}">
      <dsp:nvSpPr>
        <dsp:cNvPr id="0" name=""/>
        <dsp:cNvSpPr/>
      </dsp:nvSpPr>
      <dsp:spPr>
        <a:xfrm>
          <a:off x="5767715" y="2166999"/>
          <a:ext cx="1940539" cy="59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200" kern="1200"/>
            <a:t>Hardware maintenance requirements</a:t>
          </a:r>
        </a:p>
      </dsp:txBody>
      <dsp:txXfrm>
        <a:off x="5796565" y="2195849"/>
        <a:ext cx="1882839" cy="533300"/>
      </dsp:txXfrm>
    </dsp:sp>
    <dsp:sp modelId="{BAD63771-57F9-044B-A383-0EE2001BC59C}">
      <dsp:nvSpPr>
        <dsp:cNvPr id="0" name=""/>
        <dsp:cNvSpPr/>
      </dsp:nvSpPr>
      <dsp:spPr>
        <a:xfrm>
          <a:off x="5390388" y="0"/>
          <a:ext cx="2695193" cy="15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1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IT Team needs to constantly replace and manage the physical hardware and servers, which requires lots of time and money</a:t>
          </a:r>
        </a:p>
      </dsp:txBody>
      <dsp:txXfrm>
        <a:off x="5390388" y="0"/>
        <a:ext cx="2695193" cy="1576000"/>
      </dsp:txXfrm>
    </dsp:sp>
    <dsp:sp modelId="{AA970ABE-05A8-7147-98CD-F6E5DE46DBB1}">
      <dsp:nvSpPr>
        <dsp:cNvPr id="0" name=""/>
        <dsp:cNvSpPr/>
      </dsp:nvSpPr>
      <dsp:spPr>
        <a:xfrm>
          <a:off x="7708254" y="2462499"/>
          <a:ext cx="75465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54654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A19C97-D6FF-2F47-854F-EA4E8695C15D}">
      <dsp:nvSpPr>
        <dsp:cNvPr id="0" name=""/>
        <dsp:cNvSpPr/>
      </dsp:nvSpPr>
      <dsp:spPr>
        <a:xfrm>
          <a:off x="6737984" y="1674499"/>
          <a:ext cx="0" cy="49250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241EF6-F8D1-A144-B4B1-0EB4EAFBC9EF}">
      <dsp:nvSpPr>
        <dsp:cNvPr id="0" name=""/>
        <dsp:cNvSpPr/>
      </dsp:nvSpPr>
      <dsp:spPr>
        <a:xfrm>
          <a:off x="8462909" y="2166999"/>
          <a:ext cx="1940539" cy="59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200" kern="1200"/>
            <a:t>Disaster recovery problems</a:t>
          </a:r>
        </a:p>
      </dsp:txBody>
      <dsp:txXfrm>
        <a:off x="8491759" y="2195849"/>
        <a:ext cx="1882839" cy="533300"/>
      </dsp:txXfrm>
    </dsp:sp>
    <dsp:sp modelId="{02DC0BB4-6832-244A-BDAA-A0427A542862}">
      <dsp:nvSpPr>
        <dsp:cNvPr id="0" name=""/>
        <dsp:cNvSpPr/>
      </dsp:nvSpPr>
      <dsp:spPr>
        <a:xfrm>
          <a:off x="8085581" y="3348999"/>
          <a:ext cx="2695193" cy="15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1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Reliance on physical infrastructure creates additional requirements around backup, hardware failure and disaster recovery .</a:t>
          </a:r>
        </a:p>
      </dsp:txBody>
      <dsp:txXfrm>
        <a:off x="8085581" y="3348999"/>
        <a:ext cx="2695193" cy="1576000"/>
      </dsp:txXfrm>
    </dsp:sp>
    <dsp:sp modelId="{04812756-C0E0-9244-8111-AA91C165F0CB}">
      <dsp:nvSpPr>
        <dsp:cNvPr id="0" name=""/>
        <dsp:cNvSpPr/>
      </dsp:nvSpPr>
      <dsp:spPr>
        <a:xfrm>
          <a:off x="9433179" y="2757999"/>
          <a:ext cx="0" cy="49250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BlockTimeline">
  <dgm:title val="Block Timeline"/>
  <dgm:desc val="Displays events in chronological order. Each event should have a date of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animLvl val="lvl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1" val="16"/>
      <dgm:constr type="primFontSz" for="des" forName="Childtext1" val="14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w" for="ch" forName="spaceBetweenRectangles" refType="w" fact="0"/>
      <dgm:constr type="h" for="ch" forName="spaceBetweenRectangles" refType="h" fact="0"/>
      <dgm:constr type="primFontSz" for="des" forName="Parent1" op="equ"/>
      <dgm:constr type="primFontSz" for="des" forName="Childtext1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casesForSnakingLogic">
          <dgm:if name="Name7" axis="self" ptType="node" func="posOdd" op="equ" val="1">
            <dgm:constrLst>
              <dgm:constr type="w" for="ch" forName="Parent1" refType="w" fact="0.72"/>
              <dgm:constr type="ctrY" for="ch" forName="Parent1" refType="h" fact="0.5"/>
              <dgm:constr type="h" for="ch" forName="Parent1" refType="h" fact="0.12"/>
              <dgm:constr type="l" for="ch" forName="Parent1" refType="w" fact="0.14"/>
              <dgm:constr type="w" for="ch" forName="Childtext1" refType="w"/>
              <dgm:constr type="h" for="ch" forName="Childtext1" refType="h" fact="0.32"/>
              <dgm:constr type="t" for="ch" forName="Childtext1" refType="h" fact="0"/>
              <dgm:constr type="w" for="ch" forName="ConnectLine"/>
              <dgm:constr type="h" for="ch" forName="ConnectLine" refType="h" fact="0.1"/>
              <dgm:constr type="b" for="ch" forName="ConnectLine" refType="t" refFor="ch" refForName="Parent1"/>
              <dgm:constr type="ctrX" for="ch" forName="ConnectLine" refType="w" fact="0.5"/>
              <dgm:constr type="w" for="ch" forName="EmptyPane" refType="w"/>
              <dgm:constr type="b" for="ch" forName="EmptyPane" refType="h"/>
              <dgm:constr type="h" for="ch" forName="EmptyPane" refType="h" fact="0.44"/>
            </dgm:constrLst>
          </dgm:if>
          <dgm:else name="Name8">
            <dgm:constrLst>
              <dgm:constr type="w" for="ch" forName="Parent1" refType="w" fact="0.72"/>
              <dgm:constr type="ctrY" for="ch" forName="Parent1" refType="h" fact="0.5"/>
              <dgm:constr type="h" for="ch" forName="Parent1" refType="h" fact="0.12"/>
              <dgm:constr type="l" for="ch" forName="Parent1" refType="w" fact="0.14"/>
              <dgm:constr type="w" for="ch" forName="Childtext1" refType="w"/>
              <dgm:constr type="h" for="ch" forName="Childtext1" refType="h" fact="0.32"/>
              <dgm:constr type="b" for="ch" forName="Childtext1" refType="h"/>
              <dgm:constr type="w" for="ch" forName="ConnectLine"/>
              <dgm:constr type="h" for="ch" forName="ConnectLine" refType="h" fact="0.1"/>
              <dgm:constr type="t" for="ch" forName="ConnectLine" refType="b" refFor="ch" refForName="Parent1"/>
              <dgm:constr type="ctrX" for="ch" forName="ConnectLine" refType="w" fact="0.5"/>
              <dgm:constr type="w" for="ch" forName="EmptyPane" refType="w"/>
              <dgm:constr type="h" for="ch" forName="EmptyPane" refType="h" fact="0.44"/>
            </dgm:constrLst>
          </dgm:else>
        </dgm:choose>
        <dgm:layoutNode name="Parent1" styleLbl="alignNode1">
          <dgm:varLst>
            <dgm:chMax val="1"/>
            <dgm:chPref val="1"/>
            <dgm:bulletEnabled val="1"/>
          </dgm:varLst>
          <dgm:alg type="tx"/>
          <dgm:choose name="casesForFirstAndLastNode">
            <dgm:if name="startNode" axis="self" ptType="node" func="pos" op="equ" val="1">
              <dgm:choose name="removeLineWhenOnlyOneNode">
                <dgm:if name="ifOnlyOneNode" axis="followSib" ptType="node" func="cnt" op="equ" val="0">
                  <dgm:shape xmlns:r="http://schemas.openxmlformats.org/officeDocument/2006/relationships" type="rect" r:blip="">
                    <dgm:adjLst/>
                  </dgm:shape>
                </dgm:if>
                <dgm:else name="ifMoreThanOneNode">
                  <dgm:choose name="Name18">
                    <dgm:if name="Name19" func="var" arg="dir" op="equ" val="norm">
                      <dgm:shape xmlns:r="http://schemas.openxmlformats.org/officeDocument/2006/relationships" type="roundRect" r:blip="">
                        <dgm:adjLst/>
                      </dgm:shape>
                    </dgm:if>
                    <dgm:else name="Name20">
                      <dgm:shape xmlns:r="http://schemas.openxmlformats.org/officeDocument/2006/relationships" type="roundRect" r:blip="">
                        <dgm:adjLst/>
                      </dgm:shape>
                    </dgm:else>
                  </dgm:choose>
                </dgm:else>
              </dgm:choose>
            </dgm:if>
            <dgm:else name="notStartNode">
              <dgm:choose name="Name22">
                <dgm:if name="Name23" axis="self" ptType="node" func="revPos" op="equ" val="1">
                  <dgm:choose name="Name24">
                    <dgm:if name="Name25" func="var" arg="dir" op="equ" val="norm">
                      <dgm:shape xmlns:r="http://schemas.openxmlformats.org/officeDocument/2006/relationships" type="roundRect" r:blip="">
                        <dgm:adjLst/>
                      </dgm:shape>
                    </dgm:if>
                    <dgm:else name="Name26">
                      <dgm:shape xmlns:r="http://schemas.openxmlformats.org/officeDocument/2006/relationships" type="roundRect" r:blip="">
                        <dgm:adjLst/>
                      </dgm:shape>
                    </dgm:else>
                  </dgm:choose>
                </dgm:if>
                <dgm:else name="Name27">
                  <dgm:shape xmlns:r="http://schemas.openxmlformats.org/officeDocument/2006/relationships" type="roundRect" r:blip="">
                    <dgm:adjLst/>
                  </dgm:shape>
                </dgm:else>
              </dgm:choose>
            </dgm:else>
          </dgm:choose>
          <dgm:presOf axis="self" ptType="node"/>
          <dgm:constrLst>
            <dgm:constr type="lMarg" refType="primFontSz" fact="0.6"/>
            <dgm:constr type="rMarg" refType="primFontSz" fact="0.6"/>
            <dgm:constr type="tMarg" refType="primFontSz" fact="0.6"/>
            <dgm:constr type="bMarg" refType="primFontSz" fact="0.6"/>
          </dgm:constrLst>
          <dgm:ruleLst>
            <dgm:rule type="primFontSz" val="5" fact="NaN" max="NaN"/>
          </dgm:ruleLst>
        </dgm:layoutNode>
        <dgm:layoutNode name="Childtext1" styleLbl="revTx" moveWith="Parent1">
          <dgm:varLst>
            <dgm:chMax val="0"/>
            <dgm:chPref val="0"/>
            <dgm:bulletEnabled/>
          </dgm:varLst>
          <dgm:choose name="casesForTxtDirLogic1">
            <dgm:if name="Name77" axis="self" ptType="node" func="posOdd" op="equ" val="1">
              <dgm:alg type="tx">
                <dgm:param type="txAnchorVert" val="b"/>
                <dgm:param type="txAnchorHorz" val="ctr"/>
                <dgm:param type="parTxRTLAlign" val="ctr"/>
                <dgm:param type="parTxLTRAlign" val="ctr"/>
              </dgm:alg>
            </dgm:if>
            <dgm:else name="Name88">
              <dgm:alg type="tx">
                <dgm:param type="txAnchorVert" val="t"/>
                <dgm:param type="txAnchorHorz" val="ctr"/>
                <dgm:param type="parTxRTLAlign" val="ctr"/>
                <dgm:param type="parTxLTRAlign" val="ctr"/>
              </dgm:alg>
            </dgm:else>
          </dgm:choose>
          <dgm:shape xmlns:r="http://schemas.openxmlformats.org/officeDocument/2006/relationships" type="rect" r:blip="">
            <dgm:adjLst/>
          </dgm:shape>
          <dgm:constrLst>
            <dgm:constr type="lMarg"/>
            <dgm:constr type="rMarg"/>
            <dgm:constr type="tMarg" refType="primFontSz" fact="0"/>
            <dgm:constr type="bMarg" refType="primFontSz" fact="0"/>
          </dgm:constrLst>
          <dgm:presOf axis="ch" ptType="node"/>
          <dgm:ruleLst>
            <dgm:rule type="primFontSz" val="5" fact="NaN" max="NaN"/>
          </dgm:ruleLst>
        </dgm:layoutNode>
        <dgm:layoutNode name="ConnectLine" styleLbl="sibTrans1D1" moveWith="Parent1">
          <dgm:alg type="sp"/>
          <dgm:shape xmlns:r="http://schemas.openxmlformats.org/officeDocument/2006/relationships" type="line" r:blip="">
            <dgm:adjLst/>
            <dgm:extLst>
              <a:ext uri="{B698B0E9-8C71-41B9-8309-B3DCBF30829C}">
                <dgm1612:spPr xmlns:dgm1612="http://schemas.microsoft.com/office/drawing/2016/12/diagram">
                  <a:ln w="9525"/>
                </dgm1612:spPr>
              </a:ext>
            </dgm:extLst>
          </dgm:shape>
          <dgm:presOf/>
          <dgm:constrLst/>
        </dgm:layoutNode>
        <dgm:layoutNode name="EmptyPane" moveWith="Parent1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28" axis="followSib" ptType="sibTrans" cnt="1">
        <dgm:layoutNode name="spaceBetweenRectangles" styleLbl="fgAcc1">
          <dgm:alg type="conn">
            <dgm:param type="dim" val="1D"/>
            <dgm:param type="srcNode" val="Parent1"/>
            <dgm:param type="dstNode" val="Parent1"/>
            <dgm:param type="begPts" val="midR"/>
            <dgm:param type="endPts" val="midL"/>
            <dgm:param type="endSty" val="noArr"/>
          </dgm:alg>
          <dgm:shape xmlns:r="http://schemas.openxmlformats.org/officeDocument/2006/relationships" type="conn" r:blip="" zOrderOff="-2">
            <dgm:adjLst/>
            <dgm:extLst>
              <a:ext uri="{B698B0E9-8C71-41B9-8309-B3DCBF30829C}">
                <dgm1612:spPr xmlns:dgm1612="http://schemas.microsoft.com/office/drawing/2016/12/diagram">
                  <a:ln w="12700"/>
                </dgm1612:spPr>
              </a:ext>
            </dgm:extLst>
          </dgm:shape>
          <dgm:presOf/>
          <dgm:constrLst>
            <dgm:constr type="connDist"/>
            <dgm:constr type="begPad"/>
            <dgm:constr type="endPad"/>
          </dgm:constrLst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9/26/26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284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6A364-A39C-470E-B89A-9BD899585684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1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9/26/26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328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9/26/26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660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739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81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E16723-2C2F-40DB-89B2-A94AAE77E75C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944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B73AF-3955-4569-8B4F-B329360A9CBD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674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ADC593-EA98-4C39-A75F-3F3A9C691019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30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233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54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4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96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19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71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C8C146-0A20-4029-98D5-9A42EEDF8B24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6464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3859A7-84EB-4384-87AF-59CC16704CF8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1308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49277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452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40A1F3-DA5D-4F2E-B759-748FF8D0ACA9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31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20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765B10-D26A-480A-9509-A9831C5E60D8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909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CB42A-67CE-499B-A4FA-7D4E4469B142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93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9E5040-F7E0-40EC-B8E9-CED28200FAA3}" type="datetime1">
              <a:rPr lang="en-US" smtClean="0"/>
              <a:pPr/>
              <a:t>9/26/26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991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CFF128-BAC7-4E0D-8F77-28A571D93B6F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20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669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73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383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7" r:id="rId2"/>
    <p:sldLayoutId id="2147483957" r:id="rId3"/>
    <p:sldLayoutId id="2147483955" r:id="rId4"/>
    <p:sldLayoutId id="2147483765" r:id="rId5"/>
    <p:sldLayoutId id="2147483770" r:id="rId6"/>
    <p:sldLayoutId id="2147483954" r:id="rId7"/>
    <p:sldLayoutId id="2147483771" r:id="rId8"/>
    <p:sldLayoutId id="2147483774" r:id="rId9"/>
    <p:sldLayoutId id="2147483949" r:id="rId10"/>
    <p:sldLayoutId id="2147483775" r:id="rId11"/>
    <p:sldLayoutId id="2147483776" r:id="rId12"/>
    <p:sldLayoutId id="2147483778" r:id="rId13"/>
    <p:sldLayoutId id="2147483780" r:id="rId14"/>
    <p:sldLayoutId id="2147483782" r:id="rId15"/>
    <p:sldLayoutId id="2147483786" r:id="rId16"/>
    <p:sldLayoutId id="2147483791" r:id="rId17"/>
    <p:sldLayoutId id="2147483951" r:id="rId18"/>
    <p:sldLayoutId id="2147483792" r:id="rId19"/>
    <p:sldLayoutId id="2147483795" r:id="rId20"/>
    <p:sldLayoutId id="2147483798" r:id="rId21"/>
    <p:sldLayoutId id="2147483801" r:id="rId22"/>
    <p:sldLayoutId id="2147483802" r:id="rId23"/>
    <p:sldLayoutId id="2147483956" r:id="rId24"/>
    <p:sldLayoutId id="2147483804" r:id="rId25"/>
    <p:sldLayoutId id="2147483807" r:id="rId26"/>
    <p:sldLayoutId id="2147483934" r:id="rId2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D73B2-D0A8-FABF-E8BC-F5271DE51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9" y="837196"/>
            <a:ext cx="4654297" cy="3739896"/>
          </a:xfrm>
        </p:spPr>
        <p:txBody>
          <a:bodyPr/>
          <a:lstStyle/>
          <a:p>
            <a:r>
              <a:rPr lang="en-US"/>
              <a:t>FabClothing</a:t>
            </a:r>
            <a:br>
              <a:rPr lang="en-US"/>
            </a:br>
            <a:r>
              <a:rPr lang="en-US"/>
              <a:t>Cloud Migration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5A697-C5A4-9EB3-E5BD-DB3779C12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7999" y="4640060"/>
            <a:ext cx="4206240" cy="1380744"/>
          </a:xfrm>
        </p:spPr>
        <p:txBody>
          <a:bodyPr/>
          <a:lstStyle/>
          <a:p>
            <a:r>
              <a:rPr lang="en-GB"/>
              <a:t>AWS Cloud Migration Business Case &amp; Proof of Concept</a:t>
            </a:r>
            <a:endParaRPr lang="en-US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479E547-5954-D147-C53F-7D45DF472F7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0" r="11470"/>
          <a:stretch>
            <a:fillRect/>
          </a:stretch>
        </p:blipFill>
        <p:spPr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750AA9B-09C1-3065-B860-758FBA21E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9/26/26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73587-3582-BBC1-72A3-6BD1AB944D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0A2B7-3D04-7774-421B-FF92FC7AA09A}"/>
              </a:ext>
            </a:extLst>
          </p:cNvPr>
          <p:cNvSpPr txBox="1"/>
          <p:nvPr/>
        </p:nvSpPr>
        <p:spPr>
          <a:xfrm>
            <a:off x="6857999" y="5651472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Precious Mbah</a:t>
            </a:r>
          </a:p>
          <a:p>
            <a:r>
              <a:rPr lang="en-US"/>
              <a:t>16/09/26</a:t>
            </a:r>
          </a:p>
        </p:txBody>
      </p:sp>
    </p:spTree>
    <p:extLst>
      <p:ext uri="{BB962C8B-B14F-4D97-AF65-F5344CB8AC3E}">
        <p14:creationId xmlns:p14="http://schemas.microsoft.com/office/powerpoint/2010/main" val="3356654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D724-BFC9-CD39-D441-8FD06CD35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 anchor="b">
            <a:normAutofit fontScale="90000"/>
          </a:bodyPr>
          <a:lstStyle/>
          <a:p>
            <a:r>
              <a:rPr lang="en-US"/>
              <a:t>Current environment &amp; challenges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0E618-1E3F-1E32-3B4D-91E128B7AA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E6A364-A39C-470E-B89A-9BD899585684}" type="datetime1">
              <a:rPr lang="en-US" smtClean="0"/>
              <a:pPr>
                <a:spcAft>
                  <a:spcPts val="600"/>
                </a:spcAft>
              </a:pPr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3BBA-AF41-7A7C-9238-7BDFC9E1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2296" y="6356350"/>
            <a:ext cx="5746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8" name="Content Placeholder 7" descr="Basic Timeline">
            <a:extLst>
              <a:ext uri="{FF2B5EF4-FFF2-40B4-BE49-F238E27FC236}">
                <a16:creationId xmlns:a16="http://schemas.microsoft.com/office/drawing/2014/main" id="{5E097A9E-D187-82B7-091F-0E652D5104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640273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731520" y="1658679"/>
          <a:ext cx="10780776" cy="492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2319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7F27-3020-721C-818F-27CB8F9A8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>
            <a:normAutofit/>
          </a:bodyPr>
          <a:lstStyle/>
          <a:p>
            <a:r>
              <a:rPr lang="en-US"/>
              <a:t>Proposed AWS 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BB6FC8-A4F9-F1B1-F06A-BBA0022E7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5" r="9403" b="4"/>
          <a:stretch>
            <a:fillRect/>
          </a:stretch>
        </p:blipFill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291C2-637D-CC66-87FC-68658FBF9001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4937760" y="549275"/>
            <a:ext cx="6561138" cy="5759450"/>
          </a:xfrm>
        </p:spPr>
        <p:txBody>
          <a:bodyPr>
            <a:normAutofit/>
          </a:bodyPr>
          <a:lstStyle/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Internet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A global network of computers</a:t>
            </a:r>
          </a:p>
          <a:p>
            <a:pPr marL="0" lv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400" b="1"/>
              <a:t>Load Balancer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/>
              <a:t>This helps to distribute customer request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GB"/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 b="1"/>
              <a:t>EC2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/>
              <a:t>It is like a virtual computer so it runs the applications workload</a:t>
            </a:r>
            <a:r>
              <a:rPr lang="en-GB" sz="1400"/>
              <a:t> 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GB" sz="140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RDS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This acts as a virtual database, so it stores Cutomers data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GB" sz="140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S3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GB" sz="1400"/>
              <a:t>This acts as an object storage, so it stores files and images/documents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75576-3F23-E4A3-CA91-3FD30D3AC2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E6A364-A39C-470E-B89A-9BD899585684}" type="datetime1">
              <a:rPr lang="en-US" smtClean="0"/>
              <a:pPr>
                <a:spcAft>
                  <a:spcPts val="600"/>
                </a:spcAft>
              </a:pPr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797E7-5D43-1FF6-BD88-DED515B5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2296" y="6356350"/>
            <a:ext cx="5746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77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3FD82-43DE-FD84-852B-8F1F943FB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 anchor="b">
            <a:normAutofit/>
          </a:bodyPr>
          <a:lstStyle/>
          <a:p>
            <a:r>
              <a:rPr lang="en-US"/>
              <a:t>Aws Proof of concept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A2F496-91B9-988A-089E-55FF9E0A3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5" b="39442"/>
          <a:stretch>
            <a:fillRect/>
          </a:stretch>
        </p:blipFill>
        <p:spPr>
          <a:xfrm>
            <a:off x="538163" y="4049930"/>
            <a:ext cx="5181600" cy="2560320"/>
          </a:xfrm>
          <a:prstGeom prst="rect">
            <a:avLst/>
          </a:prstGeom>
          <a:noFill/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44CE9D6-742C-7419-9A4E-7C612028E15E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7"/>
          <a:stretch>
            <a:fillRect/>
          </a:stretch>
        </p:blipFill>
        <p:spPr>
          <a:xfrm>
            <a:off x="6624320" y="3894569"/>
            <a:ext cx="4523232" cy="2597671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2EC88-2D2C-C5BC-4777-C15E1F8D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E6A364-A39C-470E-B89A-9BD899585684}" type="datetime1">
              <a:rPr lang="en-US" smtClean="0"/>
              <a:pPr>
                <a:spcAft>
                  <a:spcPts val="600"/>
                </a:spcAft>
              </a:pPr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FA9DE-FBF9-2FCA-12B0-DAE8FE18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2296" y="6356350"/>
            <a:ext cx="5746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23DE18-7F6B-B3F6-478C-C153E634623D}"/>
              </a:ext>
            </a:extLst>
          </p:cNvPr>
          <p:cNvSpPr txBox="1"/>
          <p:nvPr/>
        </p:nvSpPr>
        <p:spPr>
          <a:xfrm>
            <a:off x="731520" y="1962501"/>
            <a:ext cx="926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POC Result:</a:t>
            </a:r>
            <a:r>
              <a:rPr lang="en-GB"/>
              <a:t> Successfully deployed a web server on Amazon EC2 and hosted the FabClothing webpage using Apache.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59BE58-3163-A07C-6826-38676F6F11AD}"/>
              </a:ext>
            </a:extLst>
          </p:cNvPr>
          <p:cNvSpPr txBox="1"/>
          <p:nvPr/>
        </p:nvSpPr>
        <p:spPr>
          <a:xfrm>
            <a:off x="731520" y="2694240"/>
            <a:ext cx="873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This architecture is made up of a single Amazon EC2 instance in an AWS VPC and this instance is assigned to a public address which allows HTTP request from the internet to reach the web server. An EC2 security/firewall is used to control network traffic.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715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632EF-78DD-3B10-1DCC-55DE8890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 anchor="b">
            <a:normAutofit/>
          </a:bodyPr>
          <a:lstStyle/>
          <a:p>
            <a:r>
              <a:rPr lang="en-US"/>
              <a:t>Migration strategy and risk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1714D-F10A-0CF6-9CE8-9A50144CA4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A43F5B-065E-43CE-B3FD-98C48A6F94D7}" type="datetime1">
              <a:rPr lang="en-US" smtClean="0"/>
              <a:pPr>
                <a:spcAft>
                  <a:spcPts val="600"/>
                </a:spcAft>
              </a:pPr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39B7C-9750-040E-343F-310D4582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2296" y="6356350"/>
            <a:ext cx="5746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DE90F28-AFBB-4AB2-AA79-6D3F72ED131B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6BCBF90-53BE-7B1E-CB18-31945BFC6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311034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KeyContentTable"/>
                  </p202:designTagLst>
                </p202:designPr>
              </p:ext>
            </p:extLst>
          </p:nvPr>
        </p:nvGraphicFramePr>
        <p:xfrm>
          <a:off x="5554627" y="1471906"/>
          <a:ext cx="4918007" cy="5067006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220475">
                  <a:extLst>
                    <a:ext uri="{9D8B030D-6E8A-4147-A177-3AD203B41FA5}">
                      <a16:colId xmlns:a16="http://schemas.microsoft.com/office/drawing/2014/main" val="2684944282"/>
                    </a:ext>
                  </a:extLst>
                </a:gridCol>
                <a:gridCol w="3697532">
                  <a:extLst>
                    <a:ext uri="{9D8B030D-6E8A-4147-A177-3AD203B41FA5}">
                      <a16:colId xmlns:a16="http://schemas.microsoft.com/office/drawing/2014/main" val="4200762071"/>
                    </a:ext>
                  </a:extLst>
                </a:gridCol>
              </a:tblGrid>
              <a:tr h="9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Assess</a:t>
                      </a:r>
                    </a:p>
                  </a:txBody>
                  <a:tcPr marL="103993" marR="103993" marT="103993" marB="10399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500" b="0" cap="none" spc="0">
                          <a:solidFill>
                            <a:schemeClr val="tx1"/>
                          </a:solidFill>
                        </a:rPr>
                        <a:t>Data Loss</a:t>
                      </a:r>
                    </a:p>
                  </a:txBody>
                  <a:tcPr marL="103993" marR="103993" marT="103993" marB="1039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301679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Design</a:t>
                      </a:r>
                    </a:p>
                  </a:txBody>
                  <a:tcPr marL="103993" marR="103993" marT="103993" marB="10399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500" b="0" cap="none" spc="0">
                          <a:solidFill>
                            <a:schemeClr val="tx1"/>
                          </a:solidFill>
                        </a:rPr>
                        <a:t>Downtime</a:t>
                      </a:r>
                    </a:p>
                  </a:txBody>
                  <a:tcPr marL="103993" marR="103993" marT="103993" marB="1039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693777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Build</a:t>
                      </a:r>
                    </a:p>
                  </a:txBody>
                  <a:tcPr marL="103993" marR="103993" marT="103993" marB="10399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500" b="0" cap="none" spc="0">
                          <a:solidFill>
                            <a:schemeClr val="tx1"/>
                          </a:solidFill>
                        </a:rPr>
                        <a:t>,Security misconfiguration</a:t>
                      </a:r>
                    </a:p>
                  </a:txBody>
                  <a:tcPr marL="103993" marR="103993" marT="103993" marB="1039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964621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Pilot</a:t>
                      </a:r>
                    </a:p>
                  </a:txBody>
                  <a:tcPr marL="103993" marR="103993" marT="103993" marB="10399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500" b="0" cap="none" spc="0">
                          <a:solidFill>
                            <a:schemeClr val="tx1"/>
                          </a:solidFill>
                        </a:rPr>
                        <a:t>Migration delays</a:t>
                      </a:r>
                    </a:p>
                  </a:txBody>
                  <a:tcPr marL="103993" marR="103993" marT="103993" marB="1039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205305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Migrate</a:t>
                      </a:r>
                    </a:p>
                    <a:p>
                      <a:pPr>
                        <a:buNone/>
                      </a:pPr>
                      <a:endParaRPr lang="en-GB" sz="1500" b="1" cap="none" spc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sz="1500" b="1" cap="none" spc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sz="1500" b="1" cap="none" spc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Optimise</a:t>
                      </a:r>
                    </a:p>
                  </a:txBody>
                  <a:tcPr marL="103993" marR="103993" marT="103993" marB="10399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500" b="0" cap="none" spc="0">
                          <a:solidFill>
                            <a:schemeClr val="tx1"/>
                          </a:solidFill>
                        </a:rPr>
                        <a:t>Unexpected cost</a:t>
                      </a:r>
                    </a:p>
                    <a:p>
                      <a:pPr algn="l">
                        <a:buNone/>
                      </a:pPr>
                      <a:endParaRPr lang="en-GB" sz="15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993" marR="103993" marT="103993" marB="1039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3012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8A07E47-74D8-C100-2ADD-0317692D6001}"/>
              </a:ext>
            </a:extLst>
          </p:cNvPr>
          <p:cNvSpPr txBox="1"/>
          <p:nvPr/>
        </p:nvSpPr>
        <p:spPr>
          <a:xfrm>
            <a:off x="5334000" y="94557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lgerian" panose="04020705040A02060702" pitchFamily="82" charset="77"/>
                <a:ea typeface="ADLaM Display" panose="02010000000000000000" pitchFamily="2" charset="77"/>
                <a:cs typeface="ADLaM Display" panose="02010000000000000000" pitchFamily="2" charset="77"/>
              </a:rPr>
              <a:t>Stragety</a:t>
            </a:r>
            <a:r>
              <a:rPr lang="en-US">
                <a:latin typeface="Algerian" panose="04020705040A02060702" pitchFamily="8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7380DB-0244-4FB2-060A-61A616CE49D0}"/>
              </a:ext>
            </a:extLst>
          </p:cNvPr>
          <p:cNvSpPr txBox="1"/>
          <p:nvPr/>
        </p:nvSpPr>
        <p:spPr>
          <a:xfrm>
            <a:off x="6858000" y="945570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lgerian" pitchFamily="82" charset="77"/>
              </a:rPr>
              <a:t>Risk</a:t>
            </a:r>
          </a:p>
        </p:txBody>
      </p:sp>
    </p:spTree>
    <p:extLst>
      <p:ext uri="{BB962C8B-B14F-4D97-AF65-F5344CB8AC3E}">
        <p14:creationId xmlns:p14="http://schemas.microsoft.com/office/powerpoint/2010/main" val="1154465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24A1C-781A-3B5F-9C88-CDDFD49EF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</p:spPr>
        <p:txBody>
          <a:bodyPr wrap="square" anchor="ctr">
            <a:normAutofit/>
          </a:bodyPr>
          <a:lstStyle/>
          <a:p>
            <a:r>
              <a:rPr lang="en-US"/>
              <a:t>Proposed next steps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D24BBC-F945-A1D0-4C2C-91C49BD7A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131161" y="1592957"/>
            <a:ext cx="29735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87A25-F71A-91F4-F67A-13AA4DAE9898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6535056" y="1296083"/>
            <a:ext cx="4325112" cy="4265835"/>
          </a:xfrm>
        </p:spPr>
        <p:txBody>
          <a:bodyPr anchor="b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/>
              <a:t>Complete detailed infrastructure assessment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/>
              <a:t>Validate AWS costs using actual workloads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/>
              <a:t>Build a controlled pilot environment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/>
              <a:t>Test application and database migration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/>
              <a:t>Progressively migrate production workloads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/>
              <a:t>Monitor and optimise the AWS environment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08843-4A79-F284-200E-790BBBD4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D63035D-22A0-4334-A9AE-2457016C8B47}" type="datetime1">
              <a:rPr lang="en-US" smtClean="0"/>
              <a:pPr>
                <a:spcAft>
                  <a:spcPts val="600"/>
                </a:spcAft>
              </a:pPr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9843E-B7C2-E60E-E022-9EA8A745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2296" y="6356350"/>
            <a:ext cx="5746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57839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47</TotalTime>
  <Words>312</Words>
  <Application>Microsoft Macintosh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Algerian</vt:lpstr>
      <vt:lpstr>Arial</vt:lpstr>
      <vt:lpstr>Felix Titling</vt:lpstr>
      <vt:lpstr>Goudy Old Style</vt:lpstr>
      <vt:lpstr>Archway</vt:lpstr>
      <vt:lpstr>FabClothing Cloud Migration Strategy</vt:lpstr>
      <vt:lpstr>Current environment &amp; challenges</vt:lpstr>
      <vt:lpstr>Proposed AWS Architecture</vt:lpstr>
      <vt:lpstr>Aws Proof of concept</vt:lpstr>
      <vt:lpstr>Migration strategy and risk</vt:lpstr>
      <vt:lpstr>Proposed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Mbah, Precious A.</dc:creator>
  <cp:lastModifiedBy>Mbah, Precious A.</cp:lastModifiedBy>
  <cp:revision>1</cp:revision>
  <dcterms:created xsi:type="dcterms:W3CDTF">2026-09-26T15:35:12Z</dcterms:created>
  <dcterms:modified xsi:type="dcterms:W3CDTF">2026-09-26T16:22:58Z</dcterms:modified>
</cp:coreProperties>
</file>